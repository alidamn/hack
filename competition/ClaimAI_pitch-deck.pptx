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ClaimAI — прототип системы, которая по жалобе клиента и списку транзакций готовит решение по спору с обоснованием.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ClaimAI · Биданов А. Т. · МУИТ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27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5544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ClaimAI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7432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 разбора спорных карточных операций на базе LLM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840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08D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Pitch-deck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8463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Али Толегенович Биданов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 3 курса, Международный университет информационных технологий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Алматы, ул. Манаса, 34/1  ·  alibig860@gmail.com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Споры по картам: растущая нагрузка на банки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606040" cy="246888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261 млн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0604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5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чарджбэков в мире в 2025 г.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377184" y="1463040"/>
            <a:ext cx="2606040" cy="246888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05784" y="16916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74%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3605784" y="260604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5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споров эскалируются до полноценного чарджбэка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05728" y="1463040"/>
            <a:ext cx="2606040" cy="246888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34328" y="16916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$9–10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6434328" y="260604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5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стоимость обработки одного спора банком-эмитентом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034272" y="1463040"/>
            <a:ext cx="2606040" cy="246888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62872" y="169164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130 тыс.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9262872" y="260604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5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более таких случаев мошенничества в Казахстане с начала 2025 г. по март 2026 г.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38912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Ручной разбор: </a:t>
            </a:r>
            <a:pPr indent="0" marL="0">
              <a:buNone/>
            </a:pPr>
            <a:r>
              <a:rPr lang="en-US" sz="20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оператор вручную сверяет жалобу, транзакции и правила платёжной сети. Это медленно, решения различаются от оператора к оператору, а обоснование трудно проверить при аудите.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035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Источники: Mastercard, State of Chargebacks 2025 (по пересказу Chargebacks Gurus); Национальный банк РК (данные за 2025 г. – март 2026 г.).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Рынок: объём споров продолжает расти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37490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Мировой объём чарджбэков, млн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645920" y="2804160"/>
            <a:ext cx="1371600" cy="1767840"/>
          </a:xfrm>
          <a:prstGeom prst="rect">
            <a:avLst/>
          </a:prstGeom>
          <a:solidFill>
            <a:srgbClr val="0F2740"/>
          </a:solidFill>
          <a:ln w="12700">
            <a:solidFill>
              <a:srgbClr val="0F27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645920" y="23469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4663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840480" y="2377440"/>
            <a:ext cx="1371600" cy="2194560"/>
          </a:xfrm>
          <a:prstGeom prst="rect">
            <a:avLst/>
          </a:prstGeom>
          <a:solidFill>
            <a:srgbClr val="B08D3C"/>
          </a:solidFill>
          <a:ln w="12700">
            <a:solidFill>
              <a:srgbClr val="B08D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40480" y="19202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324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4663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 (прогноз)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23774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8D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+24%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45352" y="1417320"/>
            <a:ext cx="5394960" cy="37490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19672" y="1554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Структура споров у эмитентов, %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21945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Мошенничество третьих лиц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19672" y="2560320"/>
            <a:ext cx="3840480" cy="365760"/>
          </a:xfrm>
          <a:prstGeom prst="rect">
            <a:avLst/>
          </a:prstGeom>
          <a:solidFill>
            <a:srgbClr val="0F2740"/>
          </a:solidFill>
          <a:ln w="12700">
            <a:solidFill>
              <a:srgbClr val="0F27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451592" y="25603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59%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519672" y="317296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Нефродовые споры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19672" y="3538728"/>
            <a:ext cx="1822601" cy="365760"/>
          </a:xfrm>
          <a:prstGeom prst="rect">
            <a:avLst/>
          </a:prstGeom>
          <a:solidFill>
            <a:srgbClr val="3A5573"/>
          </a:solidFill>
          <a:ln w="12700">
            <a:solidFill>
              <a:srgbClr val="3A557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33713" y="3538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28%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519672" y="415137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Friendly fraud (мошенничество клиента)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19672" y="4517136"/>
            <a:ext cx="846207" cy="365760"/>
          </a:xfrm>
          <a:prstGeom prst="rect">
            <a:avLst/>
          </a:prstGeom>
          <a:solidFill>
            <a:srgbClr val="B08D3C"/>
          </a:solidFill>
          <a:ln w="12700">
            <a:solidFill>
              <a:srgbClr val="B08D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57319" y="451713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13%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30352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Сумма споров вырастет с $33,8 млрд (2025) до $41,7 млрд (2028). В Казахстане в 2022 г. ущерб от мошенничества составил 95,8 млрд ₸, возмещено лишь 2,5% потерпевших.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035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Источники: Mastercard, State of Chargebacks 2025; Finprom (данные за 2022 г.). Данные приведены по публикациям-пересказам.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Проблема, аудитория и решение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438912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Проблема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31720"/>
            <a:ext cx="29718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спор разбирается вручную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Решения зависят от оператора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прозрачного обоснования для аудита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Письма клиентам пишутся вручную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34256" y="1463040"/>
            <a:ext cx="3520440" cy="438912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8576" y="16459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Целевая аудитория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4608576" y="2331720"/>
            <a:ext cx="29718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Отделы претензий банков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Процессинговые центры и платёжные организации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Финтех-компании с карточными продуктами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19872" y="1463040"/>
            <a:ext cx="3520440" cy="4389120"/>
          </a:xfrm>
          <a:prstGeom prst="rect">
            <a:avLst/>
          </a:prstGeom>
          <a:solidFill>
            <a:srgbClr val="0F2740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94192" y="16459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Решение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94192" y="2331720"/>
            <a:ext cx="29718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5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ClaimAI принимает жалобу и транзакции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5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Выдаёт тип спора, решение, риск, уверенность и обоснование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5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Готовит письмо клиенту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5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Оператор подтверждает в один клик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работает ClaimAI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011680" cy="329184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0F2740"/>
          </a:solidFill>
          <a:ln w="12700">
            <a:solidFill>
              <a:srgbClr val="0F27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603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Приём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63240"/>
            <a:ext cx="1554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Жалоба клиента и список транзакций по кейсу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818638" y="1554480"/>
            <a:ext cx="2011680" cy="329184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47238" y="1783080"/>
            <a:ext cx="548640" cy="548640"/>
          </a:xfrm>
          <a:prstGeom prst="ellipse">
            <a:avLst/>
          </a:prstGeom>
          <a:solidFill>
            <a:srgbClr val="0F2740"/>
          </a:solidFill>
          <a:ln w="12700">
            <a:solidFill>
              <a:srgbClr val="0F27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472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047238" y="25603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Тип спора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047238" y="3063240"/>
            <a:ext cx="1554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Определение типа спора: фрод, невыдача наличных, дубль, серия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88636" y="1554480"/>
            <a:ext cx="2011680" cy="329184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17236" y="1783080"/>
            <a:ext cx="548640" cy="548640"/>
          </a:xfrm>
          <a:prstGeom prst="ellipse">
            <a:avLst/>
          </a:prstGeom>
          <a:solidFill>
            <a:srgbClr val="0F2740"/>
          </a:solidFill>
          <a:ln w="12700">
            <a:solidFill>
              <a:srgbClr val="0F274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17236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317236" y="25603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Сверка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317236" y="3063240"/>
            <a:ext cx="1554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3-D Secure, канал, время, повторы и серии операций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58634" y="1554480"/>
            <a:ext cx="2011680" cy="329184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87234" y="1783080"/>
            <a:ext cx="548640" cy="548640"/>
          </a:xfrm>
          <a:prstGeom prst="ellipse">
            <a:avLst/>
          </a:prstGeom>
          <a:solidFill>
            <a:srgbClr val="0F2740"/>
          </a:solidFill>
          <a:ln w="12700">
            <a:solidFill>
              <a:srgbClr val="0F274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723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587234" y="25603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Решение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587234" y="3063240"/>
            <a:ext cx="1554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Вердикт, уровень риска, уверенность и обоснование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628632" y="1554480"/>
            <a:ext cx="2011680" cy="329184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57232" y="1783080"/>
            <a:ext cx="548640" cy="548640"/>
          </a:xfrm>
          <a:prstGeom prst="ellipse">
            <a:avLst/>
          </a:prstGeom>
          <a:solidFill>
            <a:srgbClr val="0F2740"/>
          </a:solidFill>
          <a:ln w="12700">
            <a:solidFill>
              <a:srgbClr val="0F27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85723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9857232" y="25603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Письмо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857232" y="3063240"/>
            <a:ext cx="1554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Письмо клиенту и запись в журнал: оператор, время, решение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5120640"/>
            <a:ext cx="11091672" cy="777240"/>
          </a:xfrm>
          <a:prstGeom prst="rect">
            <a:avLst/>
          </a:prstGeom>
          <a:solidFill>
            <a:srgbClr val="0F2740"/>
          </a:solidFill>
          <a:ln w="12700">
            <a:solidFill>
              <a:srgbClr val="0F27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12064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Human-in-the-loop: ИИ рекомендует, окончательное решение принимает оператор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Результат: решение с обоснованием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4480560" cy="448056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получает оператор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39319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спора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и его класс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Риск, 0–100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Уверенность, 0–100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Обоснование по транзакциям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действий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Письмо клиенту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349240" y="1463040"/>
            <a:ext cx="629107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1920240"/>
            <a:ext cx="457200" cy="45720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63640" y="160020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Зелёный: автоматическое решение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205740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Пример: двойное списание в Glovo, 7 800 ₸ дважды за 3 минуты — возврат дубликата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349240" y="3017520"/>
            <a:ext cx="629107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577840" y="3474720"/>
            <a:ext cx="457200" cy="457200"/>
          </a:xfrm>
          <a:prstGeom prst="ellipse">
            <a:avLst/>
          </a:prstGeom>
          <a:solidFill>
            <a:srgbClr val="C77D1A"/>
          </a:solidFill>
          <a:ln w="12700">
            <a:solidFill>
              <a:srgbClr val="C77D1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63640" y="315468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Оранжевый: расследование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361188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Пример: банкомат не выдал 200 000 ₸ — запрос журнала ATM и видеозаписи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49240" y="4572000"/>
            <a:ext cx="629107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577840" y="5029200"/>
            <a:ext cx="457200" cy="457200"/>
          </a:xfrm>
          <a:prstGeom prst="ellipse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63640" y="470916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Красный: отказ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516636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Транзакции не подтверждают претензию, клиенту направляется мотивированный ответ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Архитектура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200400" cy="219456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37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Интерфейс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Vite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кейса, анализ, показ решения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749040" y="2377440"/>
            <a:ext cx="7452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B6B7F"/>
                </a:solidFill>
              </a:rPr>
              <a:t>→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494276" y="1554480"/>
            <a:ext cx="3200400" cy="219456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68596" y="1737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768596" y="2286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5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768596" y="2743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/cases, /cases/{id}/analyze, /audit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694676" y="2377440"/>
            <a:ext cx="7452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B6B7F"/>
                </a:solidFill>
              </a:rPr>
              <a:t>→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8439912" y="1554480"/>
            <a:ext cx="3200400" cy="2194560"/>
          </a:xfrm>
          <a:prstGeom prst="rect">
            <a:avLst/>
          </a:prstGeom>
          <a:solidFill>
            <a:srgbClr val="0F2740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14232" y="1737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Движок решений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714232" y="2286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08D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через OpenAI API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714232" y="2743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5EA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Строгий JSON, проверка и нормализация ответа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4069080"/>
            <a:ext cx="5394960" cy="182880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2062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Данные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66344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(SQLite для локальной работы): кейсы, транзакции и журнал аудита с ID оператора, временем и решением.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45352" y="4069080"/>
            <a:ext cx="5394960" cy="182880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19672" y="42062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Развёртывание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519672" y="466344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для локального запуска; интерфейс на Vercel, API и база на Render. Ключи хранятся в переменных окружения.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Данные и метрики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931920" cy="420624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Данные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33832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синтетических демо-кейса: фрод, невыдача наличных, двойное списание, серия ночных операций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Вход: текст жалобы и транзакции (мерчант, сумма, дата, аутентификация, канал)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Реальные данные банков не используются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1463040"/>
          <a:ext cx="683971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834640"/>
                <a:gridCol w="19019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Метрика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измеряем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Целевое значение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Точность типа спора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Совпадение с разметкой эксперта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Совпадение решения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Сравнение с решением оператора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85%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Время на спор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 жалобы до готового решения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Минуты вместо часов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авторешений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Зелёные решения без правки оператора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Определить в пилоте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Ошибочные возвраты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Возврат при отсутствии оснований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Минимум, контроль оператором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800600" y="5074920"/>
            <a:ext cx="6839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Целевые значения — рабочие гипотезы, они будут проверены на размеченных данных в пилоте.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Ценность и новизна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2560320"/>
                <a:gridCol w="2862072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Ручной разбор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Жёсткие правила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Понимание текста жалобы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Гибкость к новым схемам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Низкая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Высокая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Единообразие решений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Низкое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Высокое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Высокое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Обоснование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Вручную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Номер правила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Текст по транзакциям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Письмо клиенту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Вручную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Шаблон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Генерируется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Слабый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Журнал с ID оператора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1206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2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Новизна: </a:t>
            </a:r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связка LLM, структурированного решения и журнала аудита с подтверждением оператором для русскоязычных жалоб и тенге.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внедрения и уровень готовности (TRL)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2057400"/>
            <a:ext cx="11091672" cy="0"/>
          </a:xfrm>
          <a:prstGeom prst="line">
            <a:avLst/>
          </a:prstGeom>
          <a:noFill/>
          <a:ln w="19050">
            <a:solidFill>
              <a:srgbClr val="3A557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920240"/>
            <a:ext cx="274320" cy="274320"/>
          </a:xfrm>
          <a:prstGeom prst="ellipse">
            <a:avLst/>
          </a:prstGeom>
          <a:solidFill>
            <a:srgbClr val="B08D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17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Сейчас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2011680" cy="338328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8D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TRL 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200400"/>
            <a:ext cx="1645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Рабочий прототип, 4 демо-кейса, журнал аудита, развёртывание в облаке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18638" y="1920240"/>
            <a:ext cx="274320" cy="274320"/>
          </a:xfrm>
          <a:prstGeom prst="ellipse">
            <a:avLst/>
          </a:prstGeom>
          <a:solidFill>
            <a:srgbClr val="0F274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18638" y="1417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1–2 мес.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818638" y="2514600"/>
            <a:ext cx="2011680" cy="338328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001518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55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TRL 4–5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001518" y="3200400"/>
            <a:ext cx="1645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знаний с правилами Visa и Mastercard (RAG), ссылки на пункты правил в обосновании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88636" y="1920240"/>
            <a:ext cx="274320" cy="274320"/>
          </a:xfrm>
          <a:prstGeom prst="ellipse">
            <a:avLst/>
          </a:prstGeom>
          <a:solidFill>
            <a:srgbClr val="0F274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88636" y="1417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2–4 мес.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88636" y="2514600"/>
            <a:ext cx="2011680" cy="338328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271516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55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TRL 5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271516" y="3200400"/>
            <a:ext cx="1645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на размеченном наборе кейсов, маскирование персональных данных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58634" y="1920240"/>
            <a:ext cx="274320" cy="274320"/>
          </a:xfrm>
          <a:prstGeom prst="ellipse">
            <a:avLst/>
          </a:prstGeom>
          <a:solidFill>
            <a:srgbClr val="0F274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58634" y="1417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4–8 мес.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358634" y="2514600"/>
            <a:ext cx="2011680" cy="338328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41514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55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TRL 6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541514" y="3200400"/>
            <a:ext cx="1645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в банке или процессинге, сбор метрик и обратной связи операторов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628632" y="1920240"/>
            <a:ext cx="274320" cy="274320"/>
          </a:xfrm>
          <a:prstGeom prst="ellipse">
            <a:avLst/>
          </a:prstGeom>
          <a:solidFill>
            <a:srgbClr val="0F274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28632" y="1417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8+ мес.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9628632" y="2514600"/>
            <a:ext cx="2011680" cy="338328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811512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55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TRL 7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9811512" y="3200400"/>
            <a:ext cx="1645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 с процессингом, возможность локальной модели внутри периметра банка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Риски и меры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68312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Ошибки и «галлюцинации»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подтверждает оператор; проверка схемы ответа; показ уверенности; оценка на разметке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Передача персональных данных во внешний API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Маскирование номеров карт и ФИО; в перспективе локальная 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Ответственность и регуляторика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ИИ только рекомендует; журнал с ID оператора и временем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Зависимость от поставщика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Адрес API и модель задаются настройками; совместимый API легко заменить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27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Устаревание правил сетей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 в версионируемой базе знаний, обновляются без переобучения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Ресурсы и ближайшие шаги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86400" cy="4480560"/>
          </a:xfrm>
          <a:prstGeom prst="rect">
            <a:avLst/>
          </a:prstGeom>
          <a:solidFill>
            <a:srgbClr val="EEF1F5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2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Ресурсы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Команда: автор-разработчик; консультант-эксперт по спорам из банка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Инфраструктура: облачный хостинг, на этапе прототипа бесплатные тарифы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API: оплата по использованию, расход на один спор оценивается в доли цента и будет уточнён в пилоте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Данные: размеченные кейсы от банка-партнёра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36792" y="1463040"/>
            <a:ext cx="5303520" cy="4480560"/>
          </a:xfrm>
          <a:prstGeom prst="rect">
            <a:avLst/>
          </a:prstGeom>
          <a:solidFill>
            <a:srgbClr val="0F2740"/>
          </a:solidFill>
          <a:ln w="9525">
            <a:solidFill>
              <a:srgbClr val="D3DA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11112" y="1645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Материалы и контакты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611112" y="2286000"/>
            <a:ext cx="47548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08D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Репозиторий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[ссылка на GitHub]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B08D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[ссылка на работающий прототип]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B08D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Али Толегенович Биданов, 3 курс, МУИТ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alibig860@gmail.com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aimAI Strict">
  <a:themeElements>
    <a:clrScheme name="ClaimAI Strict">
      <a:dk1>
        <a:srgbClr val="1B1B1B"/>
      </a:dk1>
      <a:lt1>
        <a:srgbClr val="FFFFFF"/>
      </a:lt1>
      <a:dk2>
        <a:srgbClr val="0F2740"/>
      </a:dk2>
      <a:lt2>
        <a:srgbClr val="EEF1F5"/>
      </a:lt2>
      <a:accent1>
        <a:srgbClr val="0F2740"/>
      </a:accent1>
      <a:accent2>
        <a:srgbClr val="3A5573"/>
      </a:accent2>
      <a:accent3>
        <a:srgbClr val="B08D3C"/>
      </a:accent3>
      <a:accent4>
        <a:srgbClr val="2E7D5B"/>
      </a:accent4>
      <a:accent5>
        <a:srgbClr val="C77D1A"/>
      </a:accent5>
      <a:accent6>
        <a:srgbClr val="B23A3A"/>
      </a:accent6>
      <a:hlink>
        <a:srgbClr val="3A5573"/>
      </a:hlink>
      <a:folHlink>
        <a:srgbClr val="5B6B7F"/>
      </a:folHlink>
    </a:clrScheme>
    <a:fontScheme name="ClaimAI Stric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ClaimAI — pitch-deck</dc:title>
  <dc:subject>PptxGenJS Presentation</dc:subject>
  <dc:creator>Али Биданов</dc:creator>
  <cp:lastModifiedBy>Али Биданов</cp:lastModifiedBy>
  <cp:revision>1</cp:revision>
  <dcterms:created xsi:type="dcterms:W3CDTF">2026-10-08T12:07:23Z</dcterms:created>
  <dcterms:modified xsi:type="dcterms:W3CDTF">2026-10-08T12:07:23Z</dcterms:modified>
</cp:coreProperties>
</file>