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ClaimAI — прототип системы, которая по жалобе клиента и списку транзакций готовит решение по спору с обоснованием.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ClaimAI · Биданов А. Т. · МУИТ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ClaimAI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разбора спорных карточных операций на базе LLM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40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Республиканский конкурс студенческих проектов и исследований · Ассоциация Банков РК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463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Али Толегенович Биданов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3 курса, Международный университет информационных технологий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Алматы, ул. Манаса, 34/1  ·  alibig860@gmail.com  ·  +7 777 034 79 76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Споры по картам: растущая нагрузка на банки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2468880"/>
          </a:xfrm>
          <a:prstGeom prst="rect">
            <a:avLst/>
          </a:prstGeom>
          <a:solidFill>
            <a:srgbClr val="EEF1F5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261 млн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060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чарджбэков в мире в 2025 г.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77184" y="1463040"/>
            <a:ext cx="2606040" cy="2468880"/>
          </a:xfrm>
          <a:prstGeom prst="rect">
            <a:avLst/>
          </a:prstGeom>
          <a:solidFill>
            <a:srgbClr val="EEF1F5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05784" y="16916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3605784" y="26060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споров эскалируются до полноценного чарджбэка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05728" y="1463040"/>
            <a:ext cx="2606040" cy="2468880"/>
          </a:xfrm>
          <a:prstGeom prst="rect">
            <a:avLst/>
          </a:prstGeom>
          <a:solidFill>
            <a:srgbClr val="EEF1F5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34328" y="16916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$9–10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434328" y="26060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обработки одного спора банком-эмитентом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34272" y="1463040"/>
            <a:ext cx="2606040" cy="2468880"/>
          </a:xfrm>
          <a:prstGeom prst="rect">
            <a:avLst/>
          </a:prstGeom>
          <a:solidFill>
            <a:srgbClr val="EEF1F5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62872" y="16916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 тыс.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9262872" y="26060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таких случаев мошенничества в Казахстане с начала 2025 г. по март 2026 г.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8912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разбор: </a:t>
            </a:r>
            <a:pPr indent="0" marL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вручную сверяет жалобу, транзакции и правила платёжной сети. Это медленно, решения различаются от оператора к оператору, а обоснование трудно проверить при аудите.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35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Mastercard, State of Chargebacks 2025 (по пересказу Chargebacks Gurus); Национальный банк РК (данные за 2025 г. – март 2026 г.).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Рынок: объём споров продолжает расти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Мировой объём чарджбэков, млн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645920" y="2804160"/>
            <a:ext cx="1371600" cy="1767840"/>
          </a:xfrm>
          <a:prstGeom prst="rect">
            <a:avLst/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2346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4663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0" y="2377440"/>
            <a:ext cx="1371600" cy="2194560"/>
          </a:xfrm>
          <a:prstGeom prst="rect">
            <a:avLst/>
          </a:prstGeom>
          <a:solidFill>
            <a:srgbClr val="B08D3C"/>
          </a:solidFill>
          <a:ln w="12700">
            <a:solidFill>
              <a:srgbClr val="B08D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40480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324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4663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(прогноз)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377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45352" y="1417320"/>
            <a:ext cx="539496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9672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споров у эмитентов, %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2194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Мошенничество третьих лиц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19672" y="2560320"/>
            <a:ext cx="3840480" cy="365760"/>
          </a:xfrm>
          <a:prstGeom prst="rect">
            <a:avLst/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51592" y="25603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59%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19672" y="31729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Нефродовые споры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19672" y="3538728"/>
            <a:ext cx="1822601" cy="365760"/>
          </a:xfrm>
          <a:prstGeom prst="rect">
            <a:avLst/>
          </a:prstGeom>
          <a:solidFill>
            <a:srgbClr val="3A5573"/>
          </a:solidFill>
          <a:ln w="12700">
            <a:solidFill>
              <a:srgbClr val="3A557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33713" y="35387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28%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519672" y="415137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fraud (мошенничество клиента)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19672" y="4517136"/>
            <a:ext cx="846207" cy="365760"/>
          </a:xfrm>
          <a:prstGeom prst="rect">
            <a:avLst/>
          </a:prstGeom>
          <a:solidFill>
            <a:srgbClr val="B08D3C"/>
          </a:solidFill>
          <a:ln w="12700">
            <a:solidFill>
              <a:srgbClr val="B08D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57319" y="451713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13%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3035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споров вырастет с $33,8 млрд (2025) до $41,7 млрд (2028). В Казахстане в 2022 г. ущерб от мошенничества составил 95,8 млрд ₸, возмещено лишь 2,5% потерпевших.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035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Mastercard, State of Chargebacks 2025; Finprom (данные за 2022 г.). Данные приведены по публикациям-пересказам.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Проблема, аудитория и решение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4389120"/>
          </a:xfrm>
          <a:prstGeom prst="rect">
            <a:avLst/>
          </a:prstGeom>
          <a:solidFill>
            <a:srgbClr val="EEF1F5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2971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спор разбирается вручную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 зависят от оператора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прозрачного обоснования для аудита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Письма клиентам пишутся вручную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4256" y="1463040"/>
            <a:ext cx="3520440" cy="4389120"/>
          </a:xfrm>
          <a:prstGeom prst="rect">
            <a:avLst/>
          </a:prstGeom>
          <a:solidFill>
            <a:srgbClr val="EEF1F5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8576" y="1645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Целевая аудитория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608576" y="2331720"/>
            <a:ext cx="2971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Отделы претензий банков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Процессинговые центры и платёжные организации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Финтех-компании с карточными продуктами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19872" y="1463040"/>
            <a:ext cx="3520440" cy="4389120"/>
          </a:xfrm>
          <a:prstGeom prst="rect">
            <a:avLst/>
          </a:prstGeom>
          <a:solidFill>
            <a:srgbClr val="0F2740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94192" y="1645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94192" y="2331720"/>
            <a:ext cx="2971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5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ClaimAI принимает жалобу и транзакции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5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Выдаёт тип спора, решение, риск, уверенность и обоснование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5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Готовит письмо клиенту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5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подтверждает в один клик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работает ClaimAI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011680" cy="3291840"/>
          </a:xfrm>
          <a:prstGeom prst="rect">
            <a:avLst/>
          </a:prstGeom>
          <a:solidFill>
            <a:srgbClr val="EEF1F5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Приём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Жалоба клиента и список транзакций по кейсу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18638" y="1554480"/>
            <a:ext cx="2011680" cy="3291840"/>
          </a:xfrm>
          <a:prstGeom prst="rect">
            <a:avLst/>
          </a:prstGeom>
          <a:solidFill>
            <a:srgbClr val="EEF1F5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7238" y="1783080"/>
            <a:ext cx="548640" cy="548640"/>
          </a:xfrm>
          <a:prstGeom prst="ellipse">
            <a:avLst/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4723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047238" y="2560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 спора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047238" y="306324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 типа спора: фрод, невыдача наличных, дубль, серия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88636" y="1554480"/>
            <a:ext cx="2011680" cy="3291840"/>
          </a:xfrm>
          <a:prstGeom prst="rect">
            <a:avLst/>
          </a:prstGeom>
          <a:solidFill>
            <a:srgbClr val="EEF1F5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17236" y="1783080"/>
            <a:ext cx="548640" cy="548640"/>
          </a:xfrm>
          <a:prstGeom prst="ellipse">
            <a:avLst/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17236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317236" y="2560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Сверка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317236" y="306324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 Secure, канал, время, повторы и серии операций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58634" y="1554480"/>
            <a:ext cx="2011680" cy="3291840"/>
          </a:xfrm>
          <a:prstGeom prst="rect">
            <a:avLst/>
          </a:prstGeom>
          <a:solidFill>
            <a:srgbClr val="EEF1F5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7234" y="1783080"/>
            <a:ext cx="548640" cy="548640"/>
          </a:xfrm>
          <a:prstGeom prst="ellipse">
            <a:avLst/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7234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587234" y="2560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587234" y="306324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Вердикт, уровень риска, уверенность и обоснование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628632" y="1554480"/>
            <a:ext cx="2011680" cy="3291840"/>
          </a:xfrm>
          <a:prstGeom prst="rect">
            <a:avLst/>
          </a:prstGeom>
          <a:solidFill>
            <a:srgbClr val="EEF1F5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57232" y="1783080"/>
            <a:ext cx="548640" cy="548640"/>
          </a:xfrm>
          <a:prstGeom prst="ellipse">
            <a:avLst/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57232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857232" y="2560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Письмо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857232" y="306324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Письмо клиенту и запись в журнал: оператор, время, решение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120640"/>
            <a:ext cx="11091672" cy="777240"/>
          </a:xfrm>
          <a:prstGeom prst="rect">
            <a:avLst/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512064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Human-in-the-loop: ИИ рекомендует, окончательное решение принимает оператор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Результат: решение с обоснованием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480560" cy="4480560"/>
          </a:xfrm>
          <a:prstGeom prst="rect">
            <a:avLst/>
          </a:prstGeom>
          <a:solidFill>
            <a:srgbClr val="EEF1F5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получает оператор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спора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и его класс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Риск, 0–100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Уверенность, 0–100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Обоснование по транзакциям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действий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Письмо клиенту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49240" y="1463040"/>
            <a:ext cx="629107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0" y="1920240"/>
            <a:ext cx="457200" cy="4572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63640" y="16002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Зелёный: автоматическое решение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0574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двойное списание в Glovo, 7 800 ₸ дважды за 3 минуты — возврат дубликата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49240" y="3017520"/>
            <a:ext cx="629107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0" y="3474720"/>
            <a:ext cx="457200" cy="457200"/>
          </a:xfrm>
          <a:prstGeom prst="ellipse">
            <a:avLst/>
          </a:prstGeom>
          <a:solidFill>
            <a:srgbClr val="C77D1A"/>
          </a:solidFill>
          <a:ln w="12700">
            <a:solidFill>
              <a:srgbClr val="C77D1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31546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Оранжевый: расследование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36118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банкомат не выдал 200 000 ₸ — запрос журнала ATM и видеозаписи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49240" y="4572000"/>
            <a:ext cx="629107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77840" y="5029200"/>
            <a:ext cx="457200" cy="457200"/>
          </a:xfrm>
          <a:prstGeom prst="ellipse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47091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Красный: отказ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51663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Транзакции не подтверждают претензию, клиенту направляется мотивированный ответ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200400" cy="2194560"/>
          </a:xfrm>
          <a:prstGeom prst="rect">
            <a:avLst/>
          </a:prstGeom>
          <a:solidFill>
            <a:srgbClr val="EEF1F5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Интерфейс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кейса, анализ, показ решения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2377440"/>
            <a:ext cx="7452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B7F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94276" y="1554480"/>
            <a:ext cx="3200400" cy="2194560"/>
          </a:xfrm>
          <a:prstGeom prst="rect">
            <a:avLst/>
          </a:prstGeom>
          <a:solidFill>
            <a:srgbClr val="EEF1F5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68596" y="1737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768596" y="2286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5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768596" y="2743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/cases, /cases/{id}/analyze, /audit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694676" y="2377440"/>
            <a:ext cx="7452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B7F"/>
                </a:solidFill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8439912" y="1554480"/>
            <a:ext cx="3200400" cy="2194560"/>
          </a:xfrm>
          <a:prstGeom prst="rect">
            <a:avLst/>
          </a:prstGeom>
          <a:solidFill>
            <a:srgbClr val="0F2740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14232" y="1737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Движок решений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714232" y="2286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через OpenAI API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714232" y="2743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Строгий JSON, проверка и нормализация ответа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5394960" cy="1828800"/>
          </a:xfrm>
          <a:prstGeom prst="rect">
            <a:avLst/>
          </a:prstGeom>
          <a:solidFill>
            <a:srgbClr val="EEF1F5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206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6634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(SQLite для локальной работы): кейсы, транзакции и журнал аудита с ID оператора, временем и решением.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45352" y="4069080"/>
            <a:ext cx="5394960" cy="1828800"/>
          </a:xfrm>
          <a:prstGeom prst="rect">
            <a:avLst/>
          </a:prstGeom>
          <a:solidFill>
            <a:srgbClr val="EEF1F5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4206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Развёртывание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519672" y="46634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для локального запуска; интерфейс на Vercel, API и база на Render. Ключи хранятся в переменных окружения.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 и метрики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931920" cy="4206240"/>
          </a:xfrm>
          <a:prstGeom prst="rect">
            <a:avLst/>
          </a:prstGeom>
          <a:solidFill>
            <a:srgbClr val="EEF1F5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3383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синтетических демо-кейса: фрод, невыдача наличных, двойное списание, серия ночных операций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Вход: текст жалобы и транзакции (мерчант, сумма, дата, аутентификация, канал)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 данные банков не используются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463040"/>
          <a:ext cx="683971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834640"/>
                <a:gridCol w="19019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измеряем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Целевое значение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Точность типа спора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Совпадение с разметкой эксперта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Совпадение решения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Сравнение с решением оператора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Время на спор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 жалобы до готового решения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Минуты вместо часов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 авторешений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Зелёные решения без правки оператора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Определить в пилоте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Ошибочные возвраты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Возврат при отсутствии оснований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Минимум, контроль оператором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800600" y="5074920"/>
            <a:ext cx="6839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Целевые значения — рабочие гипотезы, они будут проверены на размеченных данных в пилоте.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Ценность и новизна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560320"/>
                <a:gridCol w="2560320"/>
                <a:gridCol w="286207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Критерий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Ручной разбор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Жёсткие правила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Понимание текста жалобы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Гибкость к новым схемам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Низкая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Единообразие решений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Низкое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Высокое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Высокое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Обоснование решения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Вручную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Номер правила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Текст по транзакциям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Письмо клиенту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Вручную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Шаблон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Генерируется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Аудит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Слабый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Есть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Журнал с ID оператора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1206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Новизна: </a:t>
            </a:r>
            <a:pPr indent="0" marL="0">
              <a:buNone/>
            </a:pPr>
            <a:r>
              <a:rPr lang="en-US" sz="17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связка LLM, структурированного решения и журнала аудита с подтверждением оператором для русскоязычных жалоб и тенге.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внедрения и уровень готовности (TRL)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057400"/>
            <a:ext cx="11091672" cy="0"/>
          </a:xfrm>
          <a:prstGeom prst="line">
            <a:avLst/>
          </a:prstGeom>
          <a:noFill/>
          <a:ln w="19050">
            <a:solidFill>
              <a:srgbClr val="3A55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920240"/>
            <a:ext cx="274320" cy="274320"/>
          </a:xfrm>
          <a:prstGeom prst="ellipse">
            <a:avLst/>
          </a:prstGeom>
          <a:solidFill>
            <a:srgbClr val="B08D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Сейчас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2011680" cy="3383280"/>
          </a:xfrm>
          <a:prstGeom prst="rect">
            <a:avLst/>
          </a:prstGeom>
          <a:solidFill>
            <a:srgbClr val="EEF1F5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8D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TRL 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00400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 прототип, 4 демо-кейса, журнал аудита, развёртывание в облаке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18638" y="1920240"/>
            <a:ext cx="274320" cy="274320"/>
          </a:xfrm>
          <a:prstGeom prst="ellipse">
            <a:avLst/>
          </a:prstGeom>
          <a:solidFill>
            <a:srgbClr val="0F274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18638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1–2 мес.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18638" y="2514600"/>
            <a:ext cx="2011680" cy="3383280"/>
          </a:xfrm>
          <a:prstGeom prst="rect">
            <a:avLst/>
          </a:prstGeom>
          <a:solidFill>
            <a:srgbClr val="EEF1F5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01518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5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TRL 4–5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001518" y="3200400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знаний с правилами Visa и Mastercard (RAG), ссылки на пункты правил в обосновании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88636" y="1920240"/>
            <a:ext cx="274320" cy="274320"/>
          </a:xfrm>
          <a:prstGeom prst="ellipse">
            <a:avLst/>
          </a:prstGeom>
          <a:solidFill>
            <a:srgbClr val="0F274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88636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2–4 мес.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88636" y="2514600"/>
            <a:ext cx="2011680" cy="3383280"/>
          </a:xfrm>
          <a:prstGeom prst="rect">
            <a:avLst/>
          </a:prstGeom>
          <a:solidFill>
            <a:srgbClr val="EEF1F5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71516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5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TRL 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271516" y="3200400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на размеченном наборе кейсов, маскирование персональных данных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58634" y="1920240"/>
            <a:ext cx="274320" cy="274320"/>
          </a:xfrm>
          <a:prstGeom prst="ellipse">
            <a:avLst/>
          </a:prstGeom>
          <a:solidFill>
            <a:srgbClr val="0F274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58634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4–8 мес.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58634" y="2514600"/>
            <a:ext cx="2011680" cy="3383280"/>
          </a:xfrm>
          <a:prstGeom prst="rect">
            <a:avLst/>
          </a:prstGeom>
          <a:solidFill>
            <a:srgbClr val="EEF1F5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1514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5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TRL 6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541514" y="3200400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в банке или процессинге, сбор метрик и обратной связи операторов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28632" y="1920240"/>
            <a:ext cx="274320" cy="274320"/>
          </a:xfrm>
          <a:prstGeom prst="ellipse">
            <a:avLst/>
          </a:prstGeom>
          <a:solidFill>
            <a:srgbClr val="0F274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28632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8+ мес.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628632" y="2514600"/>
            <a:ext cx="2011680" cy="3383280"/>
          </a:xfrm>
          <a:prstGeom prst="rect">
            <a:avLst/>
          </a:prstGeom>
          <a:solidFill>
            <a:srgbClr val="EEF1F5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11512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55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TRL 7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811512" y="3200400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процессингом, возможность локальной модели внутри периметра банка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Риски и меры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68312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Риск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Мера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Ошибки и «галлюцинации» модели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Решение подтверждает оператор; проверка схемы ответа; показ уверенности; оценка на разметке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Передача персональных данных во внешний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Маскирование номеров карт и ФИО; в перспективе локальная модель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Ответственность и регуляторика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ИИ только рекомендует; журнал с ID оператора и временем решения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Зависимость от поставщика модели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Адрес API и модель задаются настройками; совместимый API легко заменить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Устаревание правил сетей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Правила в версионируемой базе знаний, обновляются без переобучения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Ресурсы и ближайшие шаги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0" cy="4480560"/>
          </a:xfrm>
          <a:prstGeom prst="rect">
            <a:avLst/>
          </a:prstGeom>
          <a:solidFill>
            <a:srgbClr val="EEF1F5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Ресурсы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Команда: автор-разработчик; консультант-эксперт по спорам из банка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Инфраструктура: облачный хостинг, на этапе прототипа бесплатные тарифы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API: оплата по использованию, расход на один спор оценивается в доли цента и будет уточнён в пилоте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размеченные кейсы от банка-партнёра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36792" y="1463040"/>
            <a:ext cx="5303520" cy="4480560"/>
          </a:xfrm>
          <a:prstGeom prst="rect">
            <a:avLst/>
          </a:prstGeom>
          <a:solidFill>
            <a:srgbClr val="0F2740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11112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Материалы и контакты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611112" y="228600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github.com/AliDamn/hack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B0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[ссылка на работающий прототип]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B0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Али Толегенович Биданов, 3 курс, МУИТ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alibig860@gmail.com · +7 777 034 79 76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imAI Strict">
  <a:themeElements>
    <a:clrScheme name="ClaimAI Strict">
      <a:dk1>
        <a:srgbClr val="1B1B1B"/>
      </a:dk1>
      <a:lt1>
        <a:srgbClr val="FFFFFF"/>
      </a:lt1>
      <a:dk2>
        <a:srgbClr val="0F2740"/>
      </a:dk2>
      <a:lt2>
        <a:srgbClr val="EEF1F5"/>
      </a:lt2>
      <a:accent1>
        <a:srgbClr val="0F2740"/>
      </a:accent1>
      <a:accent2>
        <a:srgbClr val="3A5573"/>
      </a:accent2>
      <a:accent3>
        <a:srgbClr val="B08D3C"/>
      </a:accent3>
      <a:accent4>
        <a:srgbClr val="2E7D5B"/>
      </a:accent4>
      <a:accent5>
        <a:srgbClr val="C77D1A"/>
      </a:accent5>
      <a:accent6>
        <a:srgbClr val="B23A3A"/>
      </a:accent6>
      <a:hlink>
        <a:srgbClr val="3A5573"/>
      </a:hlink>
      <a:folHlink>
        <a:srgbClr val="5B6B7F"/>
      </a:folHlink>
    </a:clrScheme>
    <a:fontScheme name="ClaimAI Stric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ClaimAI — pitch-deck</dc:title>
  <dc:subject>PptxGenJS Presentation</dc:subject>
  <dc:creator>Али Биданов</dc:creator>
  <cp:lastModifiedBy>Али Биданов</cp:lastModifiedBy>
  <cp:revision>1</cp:revision>
  <dcterms:created xsi:type="dcterms:W3CDTF">2026-10-08T12:10:28Z</dcterms:created>
  <dcterms:modified xsi:type="dcterms:W3CDTF">2026-10-08T12:10:28Z</dcterms:modified>
</cp:coreProperties>
</file>